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11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Why our customers leave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222222"/>
                </a:solidFill>
              </a:defRPr>
            </a:pPr>
            <a:r>
              <a:t>Churn analysis · UK full-fibre broadband · 10,000 customer records · descriptive → predictive → prescriptive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207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lang="en-US" sz="1500" b="1">
                <a:solidFill>
                  <a:schemeClr val="tx2"/>
                </a:solidFill>
              </a:rPr>
              <a:t>Mos</a:t>
            </a:r>
            <a:r>
              <a:rPr sz="1500" b="1">
                <a:solidFill>
                  <a:schemeClr val="tx2"/>
                </a:solidFill>
              </a:rPr>
              <a:t>t churn is structural, not dissatisfaction</a:t>
            </a:r>
            <a:r>
              <a:rPr sz="1500" b="0">
                <a:solidFill>
                  <a:srgbClr val="222222"/>
                </a:solidFill>
              </a:rPr>
              <a:t>: 82% of terminations are customers moving home or leaving the area — where our network may not reach.</a:t>
            </a:r>
            <a:endParaRPr sz="15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F4E79"/>
                </a:solidFill>
              </a:rPr>
              <a:t>•  Recorded churn</a:t>
            </a:r>
            <a:r>
              <a:rPr sz="1500" b="0">
                <a:solidFill>
                  <a:srgbClr val="222222"/>
                </a:solidFill>
              </a:rPr>
              <a:t>  —  6,947 of 10,000 customers (69.5%) terminated; the base is churn-weighted, so treat rates as relative comparisons, not the live-business rate.</a:t>
            </a:r>
            <a:endParaRPr sz="15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F4E79"/>
                </a:solidFill>
              </a:rPr>
              <a:t>•  Strongest controllable lever</a:t>
            </a:r>
            <a:r>
              <a:rPr sz="1500" b="0">
                <a:solidFill>
                  <a:srgbClr val="222222"/>
                </a:solidFill>
              </a:rPr>
              <a:t>  —  24-month contracts churn at 42.5% vs ~75% for monthly/12-month — 78% lower odds of churn after controls.</a:t>
            </a:r>
            <a:endParaRPr sz="15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F4E79"/>
                </a:solidFill>
              </a:rPr>
              <a:t>•  Geography</a:t>
            </a:r>
            <a:r>
              <a:rPr sz="1500" b="0">
                <a:solidFill>
                  <a:srgbClr val="222222"/>
                </a:solidFill>
              </a:rPr>
              <a:t>  —  Leeds (82%) and Manchester (77%) churn well above London (63%) and Nottingham (41%).</a:t>
            </a:r>
            <a:endParaRPr sz="15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F4E79"/>
                </a:solidFill>
              </a:rPr>
              <a:t>•  Competition is NOT the driver</a:t>
            </a:r>
            <a:r>
              <a:rPr sz="1500" b="0">
                <a:solidFill>
                  <a:srgbClr val="222222"/>
                </a:solidFill>
              </a:rPr>
              <a:t>  —  number of competitors has no significant effect once other factors are controlled — spend on contract terms and movers, not price matching.</a:t>
            </a:r>
            <a:endParaRPr sz="15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F4E79"/>
                </a:solidFill>
              </a:rPr>
              <a:t>•  What to do</a:t>
            </a:r>
            <a:r>
              <a:rPr sz="1500" b="0">
                <a:solidFill>
                  <a:srgbClr val="222222"/>
                </a:solidFill>
              </a:rPr>
              <a:t>  —  contract migration at renewal, a mover's programme, and a Manchester/Leeds service-quality review — </a:t>
            </a:r>
            <a:r>
              <a:rPr lang="en-US" sz="1500" b="0">
                <a:solidFill>
                  <a:srgbClr val="222222"/>
                </a:solidFill>
              </a:rPr>
              <a:t>( see </a:t>
            </a:r>
            <a:r>
              <a:rPr sz="1500" b="0">
                <a:solidFill>
                  <a:srgbClr val="222222"/>
                </a:solidFill>
              </a:rPr>
              <a:t>recommendations on the last slide</a:t>
            </a:r>
            <a:r>
              <a:rPr lang="en-US" sz="1500" b="0">
                <a:solidFill>
                  <a:srgbClr val="222222"/>
                </a:solidFill>
              </a:rPr>
              <a:t>)</a:t>
            </a:r>
            <a:r>
              <a:rPr sz="1500" b="0">
                <a:solidFill>
                  <a:srgbClr val="222222"/>
                </a:solidFill>
              </a:rPr>
              <a:t>.</a:t>
            </a:r>
            <a:endParaRPr sz="1500" b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Data, approach &amp; headline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1F4E79"/>
                </a:solidFill>
              </a:rPr>
              <a:t>•  Data</a:t>
            </a:r>
            <a:r>
              <a:rPr sz="1200" b="0">
                <a:solidFill>
                  <a:srgbClr val="222222"/>
                </a:solidFill>
              </a:rPr>
              <a:t>  —  10,000 customers · activations Jan 2020 – Dec 2024 · terminations to Sep 2025. Cleaning: serial dates parsed, '-' → missing; only termination fields are missing — missing termination = still active.</a:t>
            </a:r>
            <a:endParaRPr sz="12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1F4E79"/>
                </a:solidFill>
              </a:rPr>
              <a:t>•  Approach</a:t>
            </a:r>
            <a:r>
              <a:rPr sz="1200" b="0">
                <a:solidFill>
                  <a:srgbClr val="222222"/>
                </a:solidFill>
              </a:rPr>
              <a:t>  —  descriptive → statistics (chi-square, Cramér's V, correlations) → logistic regression (interpretable odds ratios; holdout acc 78%, AUC 0.80, recall 89%).</a:t>
            </a:r>
            <a:endParaRPr sz="1200" b="0">
              <a:solidFill>
                <a:srgbClr val="222222"/>
              </a:solidFill>
            </a:endParaRPr>
          </a:p>
        </p:txBody>
      </p:sp>
      <p:pic>
        <p:nvPicPr>
          <p:cNvPr id="4" name="Picture 3" descr="nb_contract_chur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1788795"/>
            <a:ext cx="3792855" cy="2345690"/>
          </a:xfrm>
          <a:prstGeom prst="rect">
            <a:avLst/>
          </a:prstGeom>
        </p:spPr>
      </p:pic>
      <p:pic>
        <p:nvPicPr>
          <p:cNvPr id="5" name="Picture 4" descr="nb_city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520" y="1789430"/>
            <a:ext cx="3792855" cy="2346960"/>
          </a:xfrm>
          <a:prstGeom prst="rect">
            <a:avLst/>
          </a:prstGeom>
        </p:spPr>
      </p:pic>
      <p:pic>
        <p:nvPicPr>
          <p:cNvPr id="6" name="Picture 5" descr="nb_bundle_churn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4211955"/>
            <a:ext cx="3792855" cy="2345690"/>
          </a:xfrm>
          <a:prstGeom prst="rect">
            <a:avLst/>
          </a:prstGeom>
        </p:spPr>
      </p:pic>
      <p:pic>
        <p:nvPicPr>
          <p:cNvPr id="7" name="Picture 6" descr="nb_cohort_chu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545" y="4344670"/>
            <a:ext cx="3792855" cy="23456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7365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Why customers leave — reasons, contract &amp; competition</a:t>
            </a:r>
          </a:p>
        </p:txBody>
      </p:sp>
      <p:pic>
        <p:nvPicPr>
          <p:cNvPr id="3" name="Picture 2" descr="termination_reas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02410"/>
            <a:ext cx="6309360" cy="336499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949440" y="1378585"/>
          <a:ext cx="4754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</a:rPr>
                        <a:t>Term</a:t>
                      </a:r>
                      <a:endParaRPr sz="1100" b="1">
                        <a:solidFill>
                          <a:srgbClr val="1F4E7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</a:rPr>
                        <a:t>OR</a:t>
                      </a:r>
                      <a:endParaRPr sz="1100" b="1">
                        <a:solidFill>
                          <a:srgbClr val="1F4E7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</a:rPr>
                        <a:t>sig.</a:t>
                      </a:r>
                      <a:endParaRPr sz="1100" b="1">
                        <a:solidFill>
                          <a:srgbClr val="1F4E79"/>
                        </a:solidFill>
                      </a:endParaRP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/>
                        <a:t>24 Months (vs 12m)</a:t>
                      </a:r>
                      <a:endParaRPr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0.22</a:t>
                      </a:r>
                      <a:endParaRPr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***</a:t>
                      </a:r>
                      <a:endParaRPr sz="1100"/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/>
                        <a:t>Monthly (vs 12m)</a:t>
                      </a:r>
                      <a:endParaRPr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1.28</a:t>
                      </a:r>
                      <a:endParaRPr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***</a:t>
                      </a:r>
                      <a:endParaRPr sz="1100"/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/>
                        <a:t>1 competitor</a:t>
                      </a:r>
                      <a:endParaRPr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0.90</a:t>
                      </a:r>
                      <a:endParaRPr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n.s.</a:t>
                      </a:r>
                      <a:endParaRPr sz="1100"/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/>
                        <a:t>2 competitors</a:t>
                      </a:r>
                      <a:endParaRPr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0.87</a:t>
                      </a:r>
                      <a:endParaRPr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n.s.</a:t>
                      </a:r>
                      <a:endParaRPr sz="11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0" y="323977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1F4E79"/>
                </a:solidFill>
              </a:rPr>
              <a:t>•  Moving Home/Going Away = 82%</a:t>
            </a:r>
            <a:r>
              <a:rPr sz="1200" b="0">
                <a:solidFill>
                  <a:srgbClr val="222222"/>
                </a:solidFill>
              </a:rPr>
              <a:t>  —  5,701 customers — structural churn, not dissatisfaction; 'Customer not leaving' (7.5%) is ambiguous but profile-matched to the base; Complaint + Package/Deal/Cost &lt; 2%.</a:t>
            </a:r>
            <a:endParaRPr sz="12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1F4E79"/>
                </a:solidFill>
              </a:rPr>
              <a:t>•  Contract is the biggest lever</a:t>
            </a:r>
            <a:r>
              <a:rPr sz="1200" b="0">
                <a:solidFill>
                  <a:srgbClr val="222222"/>
                </a:solidFill>
              </a:rPr>
              <a:t>  —  24-month = 78% lower churn odds vs 12-month; monthly rolling +28%. Part of the gap is mechanical (still in-contract).</a:t>
            </a:r>
            <a:endParaRPr sz="12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1F4E79"/>
                </a:solidFill>
              </a:rPr>
              <a:t>•  Competitors don't move churn</a:t>
            </a:r>
            <a:r>
              <a:rPr sz="1200" b="0">
                <a:solidFill>
                  <a:srgbClr val="222222"/>
                </a:solidFill>
              </a:rPr>
              <a:t>  —  1 or 2 rivals present: no significant effect (p = 0.13 / 0.72).</a:t>
            </a:r>
            <a:endParaRPr sz="1200" b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1943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Where, what &amp; when — geography, bundle, timing</a:t>
            </a:r>
          </a:p>
        </p:txBody>
      </p:sp>
      <p:pic>
        <p:nvPicPr>
          <p:cNvPr id="3" name="Picture 2" descr="nb_city_chur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6510"/>
            <a:ext cx="3931920" cy="2377440"/>
          </a:xfrm>
          <a:prstGeom prst="rect">
            <a:avLst/>
          </a:prstGeom>
        </p:spPr>
      </p:pic>
      <p:pic>
        <p:nvPicPr>
          <p:cNvPr id="4" name="Picture 3" descr="nb_bundle_churn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86510"/>
            <a:ext cx="3931920" cy="2377440"/>
          </a:xfrm>
          <a:prstGeom prst="rect">
            <a:avLst/>
          </a:prstGeom>
        </p:spPr>
      </p:pic>
      <p:pic>
        <p:nvPicPr>
          <p:cNvPr id="5" name="Picture 4" descr="nb_monthly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286510"/>
            <a:ext cx="3749039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082415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1F4E79"/>
                </a:solidFill>
              </a:rPr>
              <a:t>•  Where</a:t>
            </a:r>
            <a:r>
              <a:rPr sz="1300" b="0">
                <a:solidFill>
                  <a:srgbClr val="222222"/>
                </a:solidFill>
              </a:rPr>
              <a:t>  —  Manchester churns ~51% more than Leeds after controls (OR 1.51); Nottingham ~64% less (OR 0.36). Leeds 82% / Manchester 77% vs London 63% / Nottingham 41%.</a:t>
            </a:r>
            <a:endParaRPr sz="13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F4E79"/>
                </a:solidFill>
              </a:rPr>
              <a:t>•  What</a:t>
            </a:r>
            <a:r>
              <a:rPr sz="1300" b="0">
                <a:solidFill>
                  <a:srgbClr val="222222"/>
                </a:solidFill>
              </a:rPr>
              <a:t>  —  50Mb entry tier churns most — 82% (n=1,030; OR 1.39 vs 150Mb). Mid/high tiers lower: 500Mb 67%, 1Gb 66%.</a:t>
            </a:r>
            <a:endParaRPr sz="13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F4E79"/>
                </a:solidFill>
              </a:rPr>
              <a:t>•  When</a:t>
            </a:r>
            <a:r>
              <a:rPr sz="1300" b="0">
                <a:solidFill>
                  <a:srgbClr val="222222"/>
                </a:solidFill>
              </a:rPr>
              <a:t>  —  churn concentrates around contract end — median churned tenure ≈ 12 months. &lt;6-month bands show 100% (observation artifact) but ~1,070 real early churners warrant onboarding review; 28 same-day terminations; 2024's 37% cohort rate is mostly less time to churn — report on a survival basis.</a:t>
            </a:r>
            <a:endParaRPr sz="1300" b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273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UK fibre market context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48105"/>
            <a:ext cx="11247120" cy="4161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1F4E79"/>
                </a:solidFill>
              </a:rPr>
              <a:t>•  Altnet overbuild</a:t>
            </a:r>
            <a:r>
              <a:rPr sz="1300" b="0">
                <a:solidFill>
                  <a:srgbClr val="222222"/>
                </a:solidFill>
              </a:rPr>
              <a:t>  —  UK altnets (incl. Hyperoptic) often overbuilt the same dense postcodes — when a mover's new address sits on another network, churn is automatic, not competitive loss. This matches our data: mover-dominated reasons + competitors not significant.</a:t>
            </a:r>
            <a:endParaRPr sz="13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F4E79"/>
                </a:solidFill>
              </a:rPr>
              <a:t>•  Price pressure &amp; consolidation</a:t>
            </a:r>
            <a:r>
              <a:rPr sz="1300" b="0">
                <a:solidFill>
                  <a:srgbClr val="222222"/>
                </a:solidFill>
              </a:rPr>
              <a:t>  —  entry-level altnet FTTP prices fell from £22 to £19/month (2020–25) vs BT's £35 — price pressure is real; altnets are consolidating — retaining existing customers beats the market's rising acquisition costs.</a:t>
            </a:r>
            <a:endParaRPr sz="13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endParaRPr sz="13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F4E79"/>
                </a:solidFill>
              </a:rPr>
              <a:t>•  1. Contract migration</a:t>
            </a:r>
            <a:r>
              <a:rPr sz="1300" b="0">
                <a:solidFill>
                  <a:srgbClr val="222222"/>
                </a:solidFill>
              </a:rPr>
              <a:t>  —  move monthly/12-month customers to 24-month terms at renewal</a:t>
            </a:r>
            <a:endParaRPr sz="13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22222"/>
                </a:solidFill>
              </a:rPr>
              <a:t> </a:t>
            </a:r>
            <a:r>
              <a:rPr lang="en-US" sz="1300" b="0">
                <a:solidFill>
                  <a:srgbClr val="222222"/>
                </a:solidFill>
              </a:rPr>
              <a:t>                                              </a:t>
            </a:r>
            <a:r>
              <a:rPr sz="1300" b="0">
                <a:solidFill>
                  <a:srgbClr val="222222"/>
                </a:solidFill>
              </a:rPr>
              <a:t> (OR 0.22 — biggest controllable effect).</a:t>
            </a:r>
            <a:endParaRPr sz="13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endParaRPr sz="13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F4E79"/>
                </a:solidFill>
              </a:rPr>
              <a:t>•  2. Mover's programme</a:t>
            </a:r>
            <a:r>
              <a:rPr sz="1300" b="0">
                <a:solidFill>
                  <a:srgbClr val="222222"/>
                </a:solidFill>
              </a:rPr>
              <a:t>  —  seamless home-move transfers + landlord/developer </a:t>
            </a:r>
            <a:endParaRPr sz="13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22222"/>
                </a:solidFill>
              </a:rPr>
              <a:t> </a:t>
            </a:r>
            <a:r>
              <a:rPr lang="en-US" sz="1300" b="0">
                <a:solidFill>
                  <a:srgbClr val="222222"/>
                </a:solidFill>
              </a:rPr>
              <a:t>                                                 </a:t>
            </a:r>
            <a:r>
              <a:rPr sz="1300" b="0">
                <a:solidFill>
                  <a:srgbClr val="222222"/>
                </a:solidFill>
              </a:rPr>
              <a:t>partnerships for the 82% who relocate.</a:t>
            </a:r>
            <a:endParaRPr sz="13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F4E79"/>
                </a:solidFill>
              </a:rPr>
              <a:t>•  3. Manchester &amp; Leeds review</a:t>
            </a:r>
            <a:r>
              <a:rPr sz="1300" b="0">
                <a:solidFill>
                  <a:srgbClr val="222222"/>
                </a:solidFill>
              </a:rPr>
              <a:t>  —  local service quality, install experience, overbuild pressure.</a:t>
            </a:r>
            <a:endParaRPr sz="13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endParaRPr sz="13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F4E79"/>
                </a:solidFill>
              </a:rPr>
              <a:t>•  4. Entry-tier upgrade path</a:t>
            </a:r>
            <a:r>
              <a:rPr sz="1300" b="0">
                <a:solidFill>
                  <a:srgbClr val="222222"/>
                </a:solidFill>
              </a:rPr>
              <a:t>  —  50Mb churns most (82%) — nudge toward higher tiers; </a:t>
            </a:r>
            <a:endParaRPr sz="1300" b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22222"/>
                </a:solidFill>
              </a:rPr>
              <a:t> </a:t>
            </a:r>
            <a:r>
              <a:rPr lang="en-US" sz="1300" b="0">
                <a:solidFill>
                  <a:srgbClr val="222222"/>
                </a:solidFill>
              </a:rPr>
              <a:t>                                                      </a:t>
            </a:r>
            <a:r>
              <a:rPr sz="1300" b="0">
                <a:solidFill>
                  <a:srgbClr val="222222"/>
                </a:solidFill>
              </a:rPr>
              <a:t>deploy the model in CRM to score active customers; report churn on a survival basis.</a:t>
            </a:r>
            <a:endParaRPr sz="1300" b="0">
              <a:solidFill>
                <a:srgbClr val="22222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1722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>
                <a:solidFill>
                  <a:srgbClr val="808080"/>
                </a:solidFill>
              </a:defRPr>
            </a:pPr>
            <a:r>
              <a:t>Sources: Cartesian, 'The State of UK Fibre' (2025) — cartesian.com/state-of-uk-fibre · INCA &amp; Point Topic, 'State of the Altnets' annual report — inca.coop · Ofcom, Telecoms Access Review / copper switchover proposals · Internal dataset: Case_Study_Data_1.xlsx (10,000 customers).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2730"/>
            <a:ext cx="11229225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48105"/>
            <a:ext cx="11229225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1. Survival-based churn reporting</a:t>
            </a:r>
            <a:r>
              <a:rPr sz="1300" b="0">
                <a:solidFill>
                  <a:srgbClr val="222222"/>
                </a:solidFill>
              </a:rPr>
              <a:t> — replace cohort churn rates with Kaplan–Meier / survival curves so every cohort is compared at equal exposure; fixes the 2024 'low churn' artifact and the &lt;6-month 100% bands.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2. Deploy the model in CRM</a:t>
            </a:r>
            <a:r>
              <a:rPr sz="1300" b="0">
                <a:solidFill>
                  <a:srgbClr val="222222"/>
                </a:solidFill>
              </a:rPr>
              <a:t> — score active customers monthly; trigger retention offers when predicted churn crosses a threshold, prioritising monthly/12-month customers near renewal (24-month migration = 78% lower churn odds).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3. Split 'movers' by network coverage</a:t>
            </a:r>
            <a:r>
              <a:rPr sz="1300" b="0">
                <a:solidFill>
                  <a:srgbClr val="222222"/>
                </a:solidFill>
              </a:rPr>
              <a:t> — join termination addresses to footprint data: off-network movers are structural loss; in-footprint movers are winnable and justify a home-move transfer programme for the 82%.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4. Manchester &amp; Leeds deep-dive</a:t>
            </a:r>
            <a:r>
              <a:rPr sz="1300" b="0">
                <a:solidFill>
                  <a:srgbClr val="222222"/>
                </a:solidFill>
              </a:rPr>
              <a:t> — pull install times, fault tickets and NPS for the two high-churn cities; test whether the gap is service quality or competitor overbuild density.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5. Entry-tier economics</a:t>
            </a:r>
            <a:r>
              <a:rPr sz="1300" b="0">
                <a:solidFill>
                  <a:srgbClr val="222222"/>
                </a:solidFill>
              </a:rPr>
              <a:t> — analyse 50Mb cohort (82% churn): upgrade uptake, discount sensitivity, and whether an upgrade path to 150Mb+ cuts churn toward the 66–67% seen on higher tiers.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6. Enrich the model</a:t>
            </a:r>
            <a:r>
              <a:rPr sz="1300" b="0">
                <a:solidFill>
                  <a:srgbClr val="222222"/>
                </a:solidFill>
              </a:rPr>
              <a:t> — add price paid, support tickets, outages, usage and rival-offer detail; competitor count alone was n.s., but offer quality may still matter.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4114</Words>
  <Application>WPS Presentation</Application>
  <PresentationFormat>On-screen Show (4:3)</PresentationFormat>
  <Paragraphs>75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vasilijasuljagic</cp:lastModifiedBy>
  <cp:revision>5</cp:revision>
  <dcterms:created xsi:type="dcterms:W3CDTF">2026-09-24T00:33:18Z</dcterms:created>
  <dcterms:modified xsi:type="dcterms:W3CDTF">2026-09-24T00:33:18Z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0BE6D9DB0B40FCE0CE6FB46AC45602FF_43</vt:lpwstr>
  </property>
  <property fmtid="{D5CDD505-2E9C-101B-9397-08002B2CF9AE}" pid="3" name="KSOProductBuildVer">
    <vt:lpwstr>1033-6.11.0.8608</vt:lpwstr>
  </property>
</Properties>
</file>