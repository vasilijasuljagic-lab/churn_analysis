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t>Why our customers leave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222222"/>
                </a:solidFill>
              </a:defRPr>
            </a:pPr>
            <a:r>
              <a:t>Churn analysis · UK full-fibre broadband · 10,000 customer records · descriptive → predictive → prescriptive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1F4E79"/>
                </a:solidFill>
              </a:rPr>
              <a:t>•  The answer in one line</a:t>
            </a:r>
            <a:r>
              <a:rPr sz="1500" b="0">
                <a:solidFill>
                  <a:srgbClr val="222222"/>
                </a:solidFill>
              </a:rPr>
              <a:t>  —  most churn is structural, not dissatisfaction: 82% of terminations are customers moving home or leaving the area — where our network may not reach.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1F4E79"/>
                </a:solidFill>
              </a:rPr>
              <a:t>•  Recorded churn</a:t>
            </a:r>
            <a:r>
              <a:rPr sz="1500" b="0">
                <a:solidFill>
                  <a:srgbClr val="222222"/>
                </a:solidFill>
              </a:rPr>
              <a:t>  —  6,947 of 10,000 customers (69.5%) terminated; the base is churn-weighted, so treat rates as relative comparisons, not the live-business rate.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1F4E79"/>
                </a:solidFill>
              </a:rPr>
              <a:t>•  Strongest controllable lever</a:t>
            </a:r>
            <a:r>
              <a:rPr sz="1500" b="0">
                <a:solidFill>
                  <a:srgbClr val="222222"/>
                </a:solidFill>
              </a:rPr>
              <a:t>  —  24-month contracts churn at 42.5% vs ~75% for monthly/12-month — 78% lower odds of churn after controls.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1F4E79"/>
                </a:solidFill>
              </a:rPr>
              <a:t>•  Geography</a:t>
            </a:r>
            <a:r>
              <a:rPr sz="1500" b="0">
                <a:solidFill>
                  <a:srgbClr val="222222"/>
                </a:solidFill>
              </a:rPr>
              <a:t>  —  Leeds (82%) and Manchester (77%) churn well above London (63%) and Nottingham (41%).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1F4E79"/>
                </a:solidFill>
              </a:rPr>
              <a:t>•  Competition is NOT the driver</a:t>
            </a:r>
            <a:r>
              <a:rPr sz="1500" b="0">
                <a:solidFill>
                  <a:srgbClr val="222222"/>
                </a:solidFill>
              </a:rPr>
              <a:t>  —  number of competitors has no significant effect once other factors are controlled — spend on contract terms and movers, not price matching.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1F4E79"/>
                </a:solidFill>
              </a:rPr>
              <a:t>•  What to do</a:t>
            </a:r>
            <a:r>
              <a:rPr sz="1500" b="0">
                <a:solidFill>
                  <a:srgbClr val="222222"/>
                </a:solidFill>
              </a:rPr>
              <a:t>  —  contract migration at renewal, a mover's programme, and a Manchester/Leeds service-quality review — recommendations on the last slide.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t>Data, approach &amp; headline findings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200" b="1">
                <a:solidFill>
                  <a:srgbClr val="1F4E79"/>
                </a:solidFill>
              </a:rPr>
              <a:t>•  Data</a:t>
            </a:r>
            <a:r>
              <a:rPr sz="1200" b="0">
                <a:solidFill>
                  <a:srgbClr val="222222"/>
                </a:solidFill>
              </a:rPr>
              <a:t>  —  10,000 customers · activations Jan 2020 – Dec 2024 · terminations to Sep 2025. Cleaning: serial dates parsed, '-' → missing; only termination fields are missing — missing termination = still active.</a:t>
            </a:r>
          </a:p>
          <a:p>
            <a:pPr>
              <a:spcAft>
                <a:spcPts val="900"/>
              </a:spcAft>
            </a:pPr>
            <a:r>
              <a:rPr sz="1200" b="1">
                <a:solidFill>
                  <a:srgbClr val="1F4E79"/>
                </a:solidFill>
              </a:rPr>
              <a:t>•  Approach</a:t>
            </a:r>
            <a:r>
              <a:rPr sz="1200" b="0">
                <a:solidFill>
                  <a:srgbClr val="222222"/>
                </a:solidFill>
              </a:rPr>
              <a:t>  —  descriptive → statistics (chi-square, Cramér's V, correlations) → logistic regression (interpretable odds ratios; holdout acc 78%, AUC 0.80, recall 89%).</a:t>
            </a:r>
          </a:p>
        </p:txBody>
      </p:sp>
      <p:pic>
        <p:nvPicPr>
          <p:cNvPr id="4" name="Picture 3" descr="nb_contract_chu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468880"/>
            <a:ext cx="5669280" cy="3505624"/>
          </a:xfrm>
          <a:prstGeom prst="rect">
            <a:avLst/>
          </a:prstGeom>
        </p:spPr>
      </p:pic>
      <p:pic>
        <p:nvPicPr>
          <p:cNvPr id="5" name="Picture 4" descr="nb_city_chu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468880"/>
            <a:ext cx="5669280" cy="3507845"/>
          </a:xfrm>
          <a:prstGeom prst="rect">
            <a:avLst/>
          </a:prstGeom>
        </p:spPr>
      </p:pic>
      <p:pic>
        <p:nvPicPr>
          <p:cNvPr id="6" name="Picture 5" descr="nb_bundle_churn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4892040"/>
            <a:ext cx="5669280" cy="3505624"/>
          </a:xfrm>
          <a:prstGeom prst="rect">
            <a:avLst/>
          </a:prstGeom>
        </p:spPr>
      </p:pic>
      <p:pic>
        <p:nvPicPr>
          <p:cNvPr id="7" name="Picture 6" descr="nb_cohort_chur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0" y="4892040"/>
            <a:ext cx="5669280" cy="350562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t>Why customers leave — reasons, contract &amp; competition</a:t>
            </a:r>
          </a:p>
        </p:txBody>
      </p:sp>
      <p:pic>
        <p:nvPicPr>
          <p:cNvPr id="3" name="Picture 2" descr="termination_reas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6309360" cy="3364992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0" y="1051560"/>
          <a:ext cx="47548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4960"/>
                <a:gridCol w="1584960"/>
                <a:gridCol w="1584960"/>
              </a:tblGrid>
              <a:tr h="29260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4E79"/>
                          </a:solidFill>
                        </a:rPr>
                        <a:t>Term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4E79"/>
                          </a:solidFill>
                        </a:rPr>
                        <a:t>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4E79"/>
                          </a:solidFill>
                        </a:rPr>
                        <a:t>sig.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/>
                        <a:t>24 Months (vs 12m)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***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/>
                        <a:t>Monthly (vs 12m)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1.28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***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/>
                        <a:t>1 competitor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n.s.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/>
                        <a:t>2 competitors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n.s.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0" y="2743200"/>
            <a:ext cx="49377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200" b="1">
                <a:solidFill>
                  <a:srgbClr val="1F4E79"/>
                </a:solidFill>
              </a:rPr>
              <a:t>•  Moving Home/Going Away = 82%</a:t>
            </a:r>
            <a:r>
              <a:rPr sz="1200" b="0">
                <a:solidFill>
                  <a:srgbClr val="222222"/>
                </a:solidFill>
              </a:rPr>
              <a:t>  —  5,701 customers — structural churn, not dissatisfaction; 'Customer not leaving' (7.5%) is ambiguous but profile-matched to the base; Complaint + Package/Deal/Cost &lt; 2%.</a:t>
            </a:r>
          </a:p>
          <a:p>
            <a:pPr>
              <a:spcAft>
                <a:spcPts val="900"/>
              </a:spcAft>
            </a:pPr>
            <a:r>
              <a:rPr sz="1200" b="1">
                <a:solidFill>
                  <a:srgbClr val="1F4E79"/>
                </a:solidFill>
              </a:rPr>
              <a:t>•  Contract is the biggest lever</a:t>
            </a:r>
            <a:r>
              <a:rPr sz="1200" b="0">
                <a:solidFill>
                  <a:srgbClr val="222222"/>
                </a:solidFill>
              </a:rPr>
              <a:t>  —  24-month = 78% lower churn odds vs 12-month; monthly rolling +28%. Part of the gap is mechanical (still in-contract).</a:t>
            </a:r>
          </a:p>
          <a:p>
            <a:pPr>
              <a:spcAft>
                <a:spcPts val="900"/>
              </a:spcAft>
            </a:pPr>
            <a:r>
              <a:rPr sz="1200" b="1">
                <a:solidFill>
                  <a:srgbClr val="1F4E79"/>
                </a:solidFill>
              </a:rPr>
              <a:t>•  Competitors don't move churn</a:t>
            </a:r>
            <a:r>
              <a:rPr sz="1200" b="0">
                <a:solidFill>
                  <a:srgbClr val="222222"/>
                </a:solidFill>
              </a:rPr>
              <a:t>  —  1 or 2 rivals present: no significant effect (p = 0.13 / 0.72).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t>Where, what &amp; when — geography, bundle, timing</a:t>
            </a:r>
          </a:p>
        </p:txBody>
      </p:sp>
      <p:pic>
        <p:nvPicPr>
          <p:cNvPr id="3" name="Picture 2" descr="nb_city_chu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3931920" cy="2377440"/>
          </a:xfrm>
          <a:prstGeom prst="rect">
            <a:avLst/>
          </a:prstGeom>
        </p:spPr>
      </p:pic>
      <p:pic>
        <p:nvPicPr>
          <p:cNvPr id="4" name="Picture 3" descr="nb_bundle_churn_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914400"/>
            <a:ext cx="3931920" cy="2377440"/>
          </a:xfrm>
          <a:prstGeom prst="rect">
            <a:avLst/>
          </a:prstGeom>
        </p:spPr>
      </p:pic>
      <p:pic>
        <p:nvPicPr>
          <p:cNvPr id="5" name="Picture 4" descr="nb_monthly_chur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914400"/>
            <a:ext cx="3749039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84048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 b="1">
                <a:solidFill>
                  <a:srgbClr val="1F4E79"/>
                </a:solidFill>
              </a:rPr>
              <a:t>•  Where</a:t>
            </a:r>
            <a:r>
              <a:rPr sz="1300" b="0">
                <a:solidFill>
                  <a:srgbClr val="222222"/>
                </a:solidFill>
              </a:rPr>
              <a:t>  —  Manchester churns ~51% more than Leeds after controls (OR 1.51); Nottingham ~64% less (OR 0.36). Leeds 82% / Manchester 77% vs London 63% / Nottingham 41%.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1F4E79"/>
                </a:solidFill>
              </a:rPr>
              <a:t>•  What</a:t>
            </a:r>
            <a:r>
              <a:rPr sz="1300" b="0">
                <a:solidFill>
                  <a:srgbClr val="222222"/>
                </a:solidFill>
              </a:rPr>
              <a:t>  —  50Mb entry tier churns most — 82% (n=1,030; OR 1.39 vs 150Mb). Mid/high tiers lower: 500Mb 67%, 1Gb 66%.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1F4E79"/>
                </a:solidFill>
              </a:rPr>
              <a:t>•  When</a:t>
            </a:r>
            <a:r>
              <a:rPr sz="1300" b="0">
                <a:solidFill>
                  <a:srgbClr val="222222"/>
                </a:solidFill>
              </a:rPr>
              <a:t>  —  churn concentrates around contract end — median churned tenure ≈ 12 months. &lt;6-month bands show 100% (observation artifact) but ~1,070 real early churners warrant onboarding review; 28 same-day terminations; 2024's 37% cohort rate is mostly less time to churn — report on a survival basis.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t>UK fibre market context &amp; 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 b="1">
                <a:solidFill>
                  <a:srgbClr val="1F4E79"/>
                </a:solidFill>
              </a:rPr>
              <a:t>•  Altnet overbuild</a:t>
            </a:r>
            <a:r>
              <a:rPr sz="1300" b="0">
                <a:solidFill>
                  <a:srgbClr val="222222"/>
                </a:solidFill>
              </a:rPr>
              <a:t>  —  UK altnets (incl. Hyperoptic) often overbuilt the same dense postcodes — when a mover's new address sits on another network, churn is automatic, not competitive loss. This matches our data: mover-dominated reasons + competitors not significant.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1F4E79"/>
                </a:solidFill>
              </a:rPr>
              <a:t>•  Price pressure &amp; consolidation</a:t>
            </a:r>
            <a:r>
              <a:rPr sz="1300" b="0">
                <a:solidFill>
                  <a:srgbClr val="222222"/>
                </a:solidFill>
              </a:rPr>
              <a:t>  —  wholesale FTTP prices fell ~40% in real terms; altnets are consolidating — retaining existing customers beats the market's rising acquisition costs.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1F4E79"/>
                </a:solidFill>
              </a:rPr>
              <a:t>•  1. Contract migration</a:t>
            </a:r>
            <a:r>
              <a:rPr sz="1300" b="0">
                <a:solidFill>
                  <a:srgbClr val="222222"/>
                </a:solidFill>
              </a:rPr>
              <a:t>  —  move monthly/12-month customers to 24-month terms at renewal (OR 0.22 — biggest controllable effect).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1F4E79"/>
                </a:solidFill>
              </a:rPr>
              <a:t>•  2. Mover's programme</a:t>
            </a:r>
            <a:r>
              <a:rPr sz="1300" b="0">
                <a:solidFill>
                  <a:srgbClr val="222222"/>
                </a:solidFill>
              </a:rPr>
              <a:t>  —  seamless home-move transfers + landlord/developer partnerships for the 82% who relocate.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1F4E79"/>
                </a:solidFill>
              </a:rPr>
              <a:t>•  3. Manchester &amp; Leeds review</a:t>
            </a:r>
            <a:r>
              <a:rPr sz="1300" b="0">
                <a:solidFill>
                  <a:srgbClr val="222222"/>
                </a:solidFill>
              </a:rPr>
              <a:t>  —  local service quality, install experience, overbuild pressure.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1F4E79"/>
                </a:solidFill>
              </a:rPr>
              <a:t>•  4. Entry-tier upgrade path</a:t>
            </a:r>
            <a:r>
              <a:rPr sz="1300" b="0">
                <a:solidFill>
                  <a:srgbClr val="222222"/>
                </a:solidFill>
              </a:rPr>
              <a:t>  —  50Mb churns most (82%) — nudge toward higher tiers; deploy the model in CRM to score active customers; report churn on a survival basis.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