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Why our customers leave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Churn analysis — UK full-fibre broadband · customer base of 10,000 records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Prepared for business stakeholders · descriptive, predictive and prescriptive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Executive summary — why customers leave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The answer in one line</a:t>
            </a:r>
            <a:r>
              <a:rPr sz="1500" b="0">
                <a:solidFill>
                  <a:srgbClr val="222222"/>
                </a:solidFill>
              </a:rPr>
              <a:t>  —  most churn is structural, not dissatisfaction: 82% of terminations are customers moving home or leaving the area — where our network may not reach.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Recorded churn</a:t>
            </a:r>
            <a:r>
              <a:rPr sz="1500" b="0">
                <a:solidFill>
                  <a:srgbClr val="222222"/>
                </a:solidFill>
              </a:rPr>
              <a:t>  —  6,947 of 10,000 customers (69.5%) terminated; the base is churn-weighted, so treat rates as relative comparisons, not the live-business rate.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The strongest lever is contract structure</a:t>
            </a:r>
            <a:r>
              <a:rPr sz="1500" b="0">
                <a:solidFill>
                  <a:srgbClr val="222222"/>
                </a:solidFill>
              </a:rPr>
              <a:t>  —  24-month contracts churn at 42.5% vs ~75% for monthly/12-month — 78% lower odds of churn after controls.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Geography matters</a:t>
            </a:r>
            <a:r>
              <a:rPr sz="1500" b="0">
                <a:solidFill>
                  <a:srgbClr val="222222"/>
                </a:solidFill>
              </a:rPr>
              <a:t>  —  Leeds (82%) and Manchester (77%) churn well above London (63%) and Nottingham (41%).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Competition is NOT the driver</a:t>
            </a:r>
            <a:r>
              <a:rPr sz="1500" b="0">
                <a:solidFill>
                  <a:srgbClr val="222222"/>
                </a:solidFill>
              </a:rPr>
              <a:t>  —  number of competitors present has no significant effect once other factors are controlled — retention spend should target contract terms and movers, not price matching.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What to do</a:t>
            </a:r>
            <a:r>
              <a:rPr sz="1500" b="0">
                <a:solidFill>
                  <a:srgbClr val="222222"/>
                </a:solidFill>
              </a:rPr>
              <a:t>  —  contract migration at renewal, a mover's programme, and Manchester/Leeds service-quality review — recommendations on the last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Data</a:t>
            </a:r>
            <a:r>
              <a:rPr sz="1500" b="0">
                <a:solidFill>
                  <a:srgbClr val="222222"/>
                </a:solidFill>
              </a:rPr>
              <a:t>  —  10,000 customers · activations Jan 2020 – Dec 2024 · terminations recorded to Sep 2025. Fields: city, postcode, bundle, contract duration, competitors, activation/termination dates and reason.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Cleaning</a:t>
            </a:r>
            <a:r>
              <a:rPr sz="1500" b="0">
                <a:solidFill>
                  <a:srgbClr val="222222"/>
                </a:solidFill>
              </a:rPr>
              <a:t>  —  Excel serial dates parsed, '-' placeholders → missing, no duplicates; only missing fields are termination-related — missing termination = still active, i.e. meaningful, not lost data.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Churn definition</a:t>
            </a:r>
            <a:r>
              <a:rPr sz="1500" b="0">
                <a:solidFill>
                  <a:srgbClr val="222222"/>
                </a:solidFill>
              </a:rPr>
              <a:t>  —  a record with a termination date counts as churned (6,947 churned / 3,053 active).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Analytics flow</a:t>
            </a:r>
            <a:r>
              <a:rPr sz="1500" b="0">
                <a:solidFill>
                  <a:srgbClr val="222222"/>
                </a:solidFill>
              </a:rPr>
              <a:t>  —  descriptive (where churn concentrates) → statistics (chi-square, Cramér's V, correlations) → predictive (logistic regression, odds ratios + holdout evaluation) → prescriptive (recommendations).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Model</a:t>
            </a:r>
            <a:r>
              <a:rPr sz="1500" b="0">
                <a:solidFill>
                  <a:srgbClr val="222222"/>
                </a:solidFill>
              </a:rPr>
              <a:t>  —  logistic regression on contract type, city, bundle group, competitors, activation year — chosen for interpretability: holdout accuracy 78%, AUC 0.80, recall 89%.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Headline findings — where churn concentrates</a:t>
            </a:r>
          </a:p>
        </p:txBody>
      </p:sp>
      <p:pic>
        <p:nvPicPr>
          <p:cNvPr id="3" name="Picture 2" descr="nb_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669280" cy="3505624"/>
          </a:xfrm>
          <a:prstGeom prst="rect">
            <a:avLst/>
          </a:prstGeom>
        </p:spPr>
      </p:pic>
      <p:pic>
        <p:nvPicPr>
          <p:cNvPr id="4" name="Picture 3" descr="nb_cit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3507845"/>
          </a:xfrm>
          <a:prstGeom prst="rect">
            <a:avLst/>
          </a:prstGeom>
        </p:spPr>
      </p:pic>
      <p:pic>
        <p:nvPicPr>
          <p:cNvPr id="5" name="Picture 4" descr="nb_bundle_churn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86200"/>
            <a:ext cx="5669280" cy="3505624"/>
          </a:xfrm>
          <a:prstGeom prst="rect">
            <a:avLst/>
          </a:prstGeom>
        </p:spPr>
      </p:pic>
      <p:pic>
        <p:nvPicPr>
          <p:cNvPr id="6" name="Picture 5" descr="nb_cohort_chu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86200"/>
            <a:ext cx="5669280" cy="3505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customers leave — termination reasons</a:t>
            </a:r>
          </a:p>
        </p:txBody>
      </p:sp>
      <p:pic>
        <p:nvPicPr>
          <p:cNvPr id="3" name="Picture 2" descr="termination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949440" cy="3706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097280"/>
            <a:ext cx="4297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Moving Home/Going Away</a:t>
            </a:r>
            <a:r>
              <a:rPr sz="1300" b="0">
                <a:solidFill>
                  <a:srgbClr val="222222"/>
                </a:solidFill>
              </a:rPr>
              <a:t>  —  82.1% of all terminations (5,701 customers) — largely structural: the customer relocates, not necessarily dissatisfied.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'Customer not leaving'</a:t>
            </a:r>
            <a:r>
              <a:rPr sz="1300" b="0">
                <a:solidFill>
                  <a:srgbClr val="222222"/>
                </a:solidFill>
              </a:rPr>
              <a:t>  —  7.5% of churn records (521) — ambiguous category; its profile matches the overall base, kept but flagged.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Bad Debt</a:t>
            </a:r>
            <a:r>
              <a:rPr sz="1300" b="0">
                <a:solidFill>
                  <a:srgbClr val="222222"/>
                </a:solidFill>
              </a:rPr>
              <a:t>  —  5.5% — a collections/pricing-design issue more than a service issue.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Complaint + Package/Deal/Cost</a:t>
            </a:r>
            <a:r>
              <a:rPr sz="1300" b="0">
                <a:solidFill>
                  <a:srgbClr val="222222"/>
                </a:solidFill>
              </a:rPr>
              <a:t>  —  under 2% combined — classic service/price churn is a small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Contract length &amp; competition</a:t>
            </a:r>
          </a:p>
        </p:txBody>
      </p:sp>
      <p:pic>
        <p:nvPicPr>
          <p:cNvPr id="3" name="Picture 2" descr="nb_contract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852160" cy="361870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188720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sig.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24 Months (vs 12m)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***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Monthly (vs 12m)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***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1 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n.s.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/>
                        <a:t>2 competitors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n.s.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2926080"/>
            <a:ext cx="51206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Contract is the biggest controllable lever</a:t>
            </a:r>
            <a:r>
              <a:rPr sz="1200" b="0">
                <a:solidFill>
                  <a:srgbClr val="222222"/>
                </a:solidFill>
              </a:rPr>
              <a:t>  —  24-month customers have ~78% lower odds of churning than 12-month; monthly-rolling churns more (+28%).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Competition is not significant</a:t>
            </a:r>
            <a:r>
              <a:rPr sz="1200" b="0">
                <a:solidFill>
                  <a:srgbClr val="222222"/>
                </a:solidFill>
              </a:rPr>
              <a:t>  —  having 1 or 2 competitors in the area does not move churn odds (p = 0.13 / 0.72) — presence of rivals alone doesn't drive exits.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But</a:t>
            </a:r>
            <a:r>
              <a:rPr sz="1200" b="0">
                <a:solidFill>
                  <a:srgbClr val="222222"/>
                </a:solidFill>
              </a:rPr>
              <a:t>  —  part of the 24-month gap is mechanical (still in-contract) — it's a lever, not pure satisfaction.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Where — geography</a:t>
            </a:r>
          </a:p>
        </p:txBody>
      </p:sp>
      <p:pic>
        <p:nvPicPr>
          <p:cNvPr id="3" name="Picture 2" descr="nb_city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035040" cy="373415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188720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City (vs Leeds)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4E79"/>
                          </a:solidFill>
                        </a:rPr>
                        <a:t>sig.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/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p=.08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/>
                        <a:t>Manchester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***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/>
                        <a:t>Nottingham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***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2834640"/>
            <a:ext cx="49377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Manchester</a:t>
            </a:r>
            <a:r>
              <a:rPr sz="1200" b="0">
                <a:solidFill>
                  <a:srgbClr val="222222"/>
                </a:solidFill>
              </a:rPr>
              <a:t>  —  churns ~51% more than Leeds after controls — the strongest geography signal.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Nottingham</a:t>
            </a:r>
            <a:r>
              <a:rPr sz="1200" b="0">
                <a:solidFill>
                  <a:srgbClr val="222222"/>
                </a:solidFill>
              </a:rPr>
              <a:t>  —  churns ~64% less — smallest base (n=152) but consistent.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</a:rPr>
              <a:t>•  Action</a:t>
            </a:r>
            <a:r>
              <a:rPr sz="1200" b="0">
                <a:solidFill>
                  <a:srgbClr val="222222"/>
                </a:solidFill>
              </a:rPr>
              <a:t>  —  review service quality, install experience and altnet overbuild pressure in Manchester and Leeds.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What — bundle</a:t>
            </a:r>
          </a:p>
        </p:txBody>
      </p:sp>
      <p:pic>
        <p:nvPicPr>
          <p:cNvPr id="3" name="Picture 2" descr="nb_bundle_chur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583680" cy="4071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572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50Mb entry tier churns most</a:t>
            </a:r>
            <a:r>
              <a:rPr sz="1300" b="0">
                <a:solidFill>
                  <a:srgbClr val="222222"/>
                </a:solidFill>
              </a:rPr>
              <a:t>  —  82.0% (n=1,030; OR 1.39 vs 150Mb) — price-sensitive or underserved entry customers.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Mid/high tiers churn less</a:t>
            </a:r>
            <a:r>
              <a:rPr sz="1300" b="0">
                <a:solidFill>
                  <a:srgbClr val="222222"/>
                </a:solidFill>
              </a:rPr>
              <a:t>  —  500Mb 67%, 1Gb 66%; 'Other' niche bundles show the lowest recorded churn (small n).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Action</a:t>
            </a:r>
            <a:r>
              <a:rPr sz="1300" b="0">
                <a:solidFill>
                  <a:srgbClr val="222222"/>
                </a:solidFill>
              </a:rPr>
              <a:t>  —  an upgrade path for the entry tier is cheaper than acquiring replacements.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When customers leave — timing</a:t>
            </a:r>
          </a:p>
        </p:txBody>
      </p:sp>
      <p:pic>
        <p:nvPicPr>
          <p:cNvPr id="3" name="Picture 2" descr="nb_monthly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852160" cy="2438400"/>
          </a:xfrm>
          <a:prstGeom prst="rect">
            <a:avLst/>
          </a:prstGeom>
        </p:spPr>
      </p:pic>
      <p:pic>
        <p:nvPicPr>
          <p:cNvPr id="4" name="Picture 3" descr="nb_tenur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669280" cy="340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Churn concentrates around contract end</a:t>
            </a:r>
            <a:r>
              <a:rPr sz="1300" b="0">
                <a:solidFill>
                  <a:srgbClr val="222222"/>
                </a:solidFill>
              </a:rPr>
              <a:t>  —  median churned tenure ≈ 12 months; the &lt;6-month bands showing 100% are an observation artifact (active customers can't yet appear there) — though ~1,070 real early churners still warrant onboarding attention.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Cohort rates reflect exposure</a:t>
            </a:r>
            <a:r>
              <a:rPr sz="1300" b="0">
                <a:solidFill>
                  <a:srgbClr val="222222"/>
                </a:solidFill>
              </a:rPr>
              <a:t>  —  2024's 37% is mostly less time to churn, not better retention — report on a survival basis.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F4E79"/>
                </a:solidFill>
              </a:rPr>
              <a:t>•  Same-day terminations</a:t>
            </a:r>
            <a:r>
              <a:rPr sz="1300" b="0">
                <a:solidFill>
                  <a:srgbClr val="222222"/>
                </a:solidFill>
              </a:rPr>
              <a:t>  —  28 customers left on activation day — worth an order-flow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UK fibre market context —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Altnet overbuild</a:t>
            </a:r>
            <a:r>
              <a:rPr sz="1500" b="0">
                <a:solidFill>
                  <a:srgbClr val="222222"/>
                </a:solidFill>
              </a:rPr>
              <a:t>  —  the UK altnet sector (incl. Hyperoptic) grew fast, often overbuilding the same dense postcodes — when a mover's new address sits on another network, churn is automatic, not competitive loss.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Price pressure</a:t>
            </a:r>
            <a:r>
              <a:rPr sz="1500" b="0">
                <a:solidFill>
                  <a:srgbClr val="222222"/>
                </a:solidFill>
              </a:rPr>
              <a:t>  —  wholesale FTTP prices fell ~40% in real terms over the build-out period — retention via contract length beats price wars.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Consolidation wave</a:t>
            </a:r>
            <a:r>
              <a:rPr sz="1500" b="0">
                <a:solidFill>
                  <a:srgbClr val="222222"/>
                </a:solidFill>
              </a:rPr>
              <a:t>  —  altnets are consolidating (debt-funded build-out + missed take-up targets); keeping existing customers is far cheaper than the market's rising acquisition costs.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Read on our data</a:t>
            </a:r>
            <a:r>
              <a:rPr sz="1500" b="0">
                <a:solidFill>
                  <a:srgbClr val="222222"/>
                </a:solidFill>
              </a:rPr>
              <a:t>  —  competitor count not being significant + mover-dominated reasons support the structural view: the fight is coverage and contracts, not head-to-head pricing.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Recommendations — prescriptive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1. Contract migration</a:t>
            </a:r>
            <a:r>
              <a:rPr sz="1500" b="0">
                <a:solidFill>
                  <a:srgbClr val="222222"/>
                </a:solidFill>
              </a:rPr>
              <a:t>  —  move monthly/12-month customers to 24-month terms at renewal — biggest controllable effect (OR 0.22).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2. Mover's programme</a:t>
            </a:r>
            <a:r>
              <a:rPr sz="1500" b="0">
                <a:solidFill>
                  <a:srgbClr val="222222"/>
                </a:solidFill>
              </a:rPr>
              <a:t>  —  82% of churn is relocation: seamless home-move transfers + landlord/developer partnerships keep movers on-network.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3. Manchester &amp; Leeds review</a:t>
            </a:r>
            <a:r>
              <a:rPr sz="1500" b="0">
                <a:solidFill>
                  <a:srgbClr val="222222"/>
                </a:solidFill>
              </a:rPr>
              <a:t>  —  highest churn rates — local service quality, install experience, overbuild pressure.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4. Entry-tier upgrade path</a:t>
            </a:r>
            <a:r>
              <a:rPr sz="1500" b="0">
                <a:solidFill>
                  <a:srgbClr val="222222"/>
                </a:solidFill>
              </a:rPr>
              <a:t>  —  50Mb bundle churns most (82%) — nudge toward higher tiers.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5. Deploy the model</a:t>
            </a:r>
            <a:r>
              <a:rPr sz="1500" b="0">
                <a:solidFill>
                  <a:srgbClr val="222222"/>
                </a:solidFill>
              </a:rPr>
              <a:t>  —  score active customers in CRM (dashboard calculator already live) and trigger offers above a risk threshold.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4E79"/>
                </a:solidFill>
              </a:rPr>
              <a:t>•  6. Better churn reporting</a:t>
            </a:r>
            <a:r>
              <a:rPr sz="1500" b="0">
                <a:solidFill>
                  <a:srgbClr val="222222"/>
                </a:solidFill>
              </a:rPr>
              <a:t>  —  report survival/exposure-based churn; clarify the 'Customer not leaving' category.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